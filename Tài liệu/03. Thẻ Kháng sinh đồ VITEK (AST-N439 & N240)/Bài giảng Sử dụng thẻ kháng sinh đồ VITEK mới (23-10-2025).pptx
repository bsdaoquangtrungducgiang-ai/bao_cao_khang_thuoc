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9">
  <p:sldMasterIdLst>
    <p:sldMasterId id="2147483684" r:id="rId1"/>
  </p:sldMasterIdLst>
  <p:notesMasterIdLst>
    <p:notesMasterId r:id="rId16"/>
  </p:notesMasterIdLst>
  <p:sldIdLst>
    <p:sldId id="312" r:id="rId2"/>
    <p:sldId id="805" r:id="rId3"/>
    <p:sldId id="806" r:id="rId4"/>
    <p:sldId id="807" r:id="rId5"/>
    <p:sldId id="808" r:id="rId6"/>
    <p:sldId id="809" r:id="rId7"/>
    <p:sldId id="811" r:id="rId8"/>
    <p:sldId id="813" r:id="rId9"/>
    <p:sldId id="815" r:id="rId10"/>
    <p:sldId id="810" r:id="rId11"/>
    <p:sldId id="817" r:id="rId12"/>
    <p:sldId id="812" r:id="rId13"/>
    <p:sldId id="814" r:id="rId14"/>
    <p:sldId id="81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E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30" autoAdjust="0"/>
    <p:restoredTop sz="95794" autoAdjust="0"/>
  </p:normalViewPr>
  <p:slideViewPr>
    <p:cSldViewPr snapToGrid="0">
      <p:cViewPr varScale="1">
        <p:scale>
          <a:sx n="122" d="100"/>
          <a:sy n="122" d="100"/>
        </p:scale>
        <p:origin x="952" y="20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43E4B-EBF3-4140-ADF9-18DF95EB258F}" type="datetimeFigureOut">
              <a:rPr lang="vi-VN" smtClean="0"/>
              <a:t>17/05/2024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6056B-1042-4CE3-8D5C-948E81A96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813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8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72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8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1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2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3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0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4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6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87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38275"/>
            <a:ext cx="4038600" cy="4733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38275"/>
            <a:ext cx="4038600" cy="4733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532BD-13F8-4947-981E-F9EEC9860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653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C0C17B6-6D88-4BD5-BEB8-39E3B02A26AD}" type="datetimeFigureOut">
              <a:rPr lang="en-US" smtClean="0"/>
              <a:pPr/>
              <a:t>5/17/24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FB6F37-364F-421F-92A2-07AB148656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64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2658978"/>
            <a:ext cx="8035738" cy="2815390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bliqueBottomLeft"/>
            <a:lightRig rig="threePt" dir="t"/>
          </a:scene3d>
        </p:spPr>
        <p:txBody>
          <a:bodyPr>
            <a:normAutofit fontScale="77500" lnSpcReduction="2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201168" lvl="1" indent="0" algn="ctr">
              <a:lnSpc>
                <a:spcPct val="150000"/>
              </a:lnSpc>
              <a:buNone/>
            </a:pPr>
            <a:endParaRPr lang="vi-VN" sz="3800" b="1" dirty="0">
              <a:ln w="11430"/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lnSpc>
                <a:spcPct val="150000"/>
              </a:lnSpc>
              <a:buNone/>
            </a:pPr>
            <a:r>
              <a:rPr lang="vi-VN" sz="3800" b="1" dirty="0">
                <a:ln w="11430"/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SỬ DỤNG CARD KHÁNG SINH MỚI</a:t>
            </a:r>
            <a:br>
              <a:rPr lang="vi-VN" sz="3600" b="1" dirty="0">
                <a:solidFill>
                  <a:srgbClr val="FF0000"/>
                </a:solidFill>
              </a:rPr>
            </a:br>
            <a:endParaRPr lang="en-US" sz="3800" b="1" dirty="0">
              <a:ln w="11430"/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buNone/>
            </a:pPr>
            <a:endParaRPr lang="en-US" sz="3800" b="1" dirty="0">
              <a:ln w="11430"/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buNone/>
            </a:pPr>
            <a:r>
              <a:rPr lang="en-US" sz="3800" b="1" dirty="0">
                <a:ln w="11430"/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KHOA VI SINH</a:t>
            </a:r>
            <a:endParaRPr lang="vi-VN" sz="4000" b="1" dirty="0">
              <a:ln w="11430"/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D26DB1-0D24-2AA5-8173-E3F91C7C0C52}"/>
              </a:ext>
            </a:extLst>
          </p:cNvPr>
          <p:cNvSpPr txBox="1"/>
          <p:nvPr/>
        </p:nvSpPr>
        <p:spPr>
          <a:xfrm>
            <a:off x="2935705" y="1082842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VN" sz="24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BS.CK1. ĐÀO QUANG TRUNG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15FA1-569C-ACD3-1588-8F0CE3892655}"/>
              </a:ext>
            </a:extLst>
          </p:cNvPr>
          <p:cNvSpPr txBox="1"/>
          <p:nvPr/>
        </p:nvSpPr>
        <p:spPr>
          <a:xfrm>
            <a:off x="898581" y="1383632"/>
            <a:ext cx="1018227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perspective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VN" sz="160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15/9/2022</a:t>
            </a:r>
          </a:p>
        </p:txBody>
      </p:sp>
    </p:spTree>
    <p:extLst>
      <p:ext uri="{BB962C8B-B14F-4D97-AF65-F5344CB8AC3E}">
        <p14:creationId xmlns:p14="http://schemas.microsoft.com/office/powerpoint/2010/main" val="3616601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2658978"/>
            <a:ext cx="8035738" cy="2815390"/>
          </a:xfrm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bliqueBottomLeft"/>
            <a:lightRig rig="threePt" dir="t"/>
          </a:scene3d>
        </p:spPr>
        <p:txBody>
          <a:bodyPr>
            <a:normAutofit fontScale="77500" lnSpcReduction="2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201168" lvl="1" indent="0" algn="ctr">
              <a:lnSpc>
                <a:spcPct val="150000"/>
              </a:lnSpc>
              <a:buNone/>
            </a:pPr>
            <a:endParaRPr lang="vi-VN" sz="3800" b="1" dirty="0">
              <a:ln w="11430"/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lnSpc>
                <a:spcPct val="150000"/>
              </a:lnSpc>
              <a:buNone/>
            </a:pPr>
            <a:r>
              <a:rPr lang="vi-VN" sz="3800" b="1" dirty="0">
                <a:ln w="11430"/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CƠ CHẾ TÁC DỤNG CỦA KHÁNG SINH</a:t>
            </a:r>
            <a:br>
              <a:rPr lang="vi-VN" sz="3600" b="1" dirty="0"/>
            </a:br>
            <a:endParaRPr lang="en-US" sz="3800" b="1" dirty="0">
              <a:ln w="11430"/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buNone/>
            </a:pPr>
            <a:endParaRPr lang="en-US" sz="3800" b="1" dirty="0">
              <a:ln w="11430"/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01168" lvl="1" indent="0" algn="ctr">
              <a:buNone/>
            </a:pPr>
            <a:r>
              <a:rPr lang="en-US" sz="3800" b="1" dirty="0">
                <a:ln w="11430"/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KHOA VI SINH</a:t>
            </a:r>
            <a:endParaRPr lang="vi-VN" sz="4000" b="1" dirty="0">
              <a:ln w="11430"/>
              <a:solidFill>
                <a:srgbClr val="FFC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D26DB1-0D24-2AA5-8173-E3F91C7C0C52}"/>
              </a:ext>
            </a:extLst>
          </p:cNvPr>
          <p:cNvSpPr txBox="1"/>
          <p:nvPr/>
        </p:nvSpPr>
        <p:spPr>
          <a:xfrm>
            <a:off x="2935705" y="1082842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VN" sz="2400" b="1" dirty="0">
                <a:ln/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BS.CK1. ĐÀO QUANG TRUNG</a:t>
            </a:r>
          </a:p>
        </p:txBody>
      </p:sp>
    </p:spTree>
    <p:extLst>
      <p:ext uri="{BB962C8B-B14F-4D97-AF65-F5344CB8AC3E}">
        <p14:creationId xmlns:p14="http://schemas.microsoft.com/office/powerpoint/2010/main" val="145942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9E4C-8A09-48FB-370E-E25B20B8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ĐÍCH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B2A4-3F08-B36E-2255-4A848994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V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AST-GN 493 được thiết kế để sử dụng cùng với Hệ thống VITEK® 2 trong các phòng xét nghiệm như một thử nghiệm </a:t>
            </a:r>
            <a:r>
              <a:rPr lang="vi-VN" sz="18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vitro 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để xác định độ nhạy của trực khuẩn Gram âm hiếu khí.</a:t>
            </a:r>
          </a:p>
        </p:txBody>
      </p:sp>
    </p:spTree>
    <p:extLst>
      <p:ext uri="{BB962C8B-B14F-4D97-AF65-F5344CB8AC3E}">
        <p14:creationId xmlns:p14="http://schemas.microsoft.com/office/powerpoint/2010/main" val="51579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9E4C-8A09-48FB-370E-E25B20B8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B2A4-3F08-B36E-2255-4A848994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vi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Mô tả được những sự không phù hợp của </a:t>
            </a:r>
            <a:r>
              <a:rPr lang="en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 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240 hiện đang dùng tại khoa bệnh viện 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vi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Sử dụng Thẻ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AST-GN 493 cho các vi khuẩn Gram (-) đa kháng thay thế cho </a:t>
            </a:r>
            <a:r>
              <a:rPr lang="en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 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240 hiện đang dùng tại khoa bệnh viện</a:t>
            </a:r>
          </a:p>
        </p:txBody>
      </p:sp>
    </p:spTree>
    <p:extLst>
      <p:ext uri="{BB962C8B-B14F-4D97-AF65-F5344CB8AC3E}">
        <p14:creationId xmlns:p14="http://schemas.microsoft.com/office/powerpoint/2010/main" val="260507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9E4C-8A09-48FB-370E-E25B20B8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B2A4-3F08-B36E-2255-4A848994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vi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Thống kê tình hình kháng thuốc của các vi khuẩn sử dụng </a:t>
            </a:r>
            <a:r>
              <a:rPr lang="en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 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240 hiện đang dùng tại khoa bệnh viện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vi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Trinh bày sự khác nhau của </a:t>
            </a:r>
            <a:r>
              <a:rPr lang="en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 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240 và AST-GN 493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vi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Lưu ý khi sử dụng thẻ </a:t>
            </a:r>
            <a:r>
              <a:rPr lang="vi-V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493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vi-V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Kết Luận</a:t>
            </a:r>
            <a:endParaRPr lang="vi-VN" sz="18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33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9699-D195-79D1-2DEF-8627167E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 kê tình hình sử dụng thẻ</a:t>
            </a:r>
            <a:br>
              <a:rPr lang="vi-V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3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240</a:t>
            </a:r>
            <a:endParaRPr lang="en-VN" sz="36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5E1DF-6A7C-6BB1-5A92-9D55315B5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923" y="1846052"/>
            <a:ext cx="4095357" cy="736282"/>
          </a:xfrm>
        </p:spPr>
        <p:txBody>
          <a:bodyPr>
            <a:normAutofit/>
          </a:bodyPr>
          <a:lstStyle/>
          <a:p>
            <a:r>
              <a:rPr lang="en-V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 KÊ ABA 8 THÁNG 2023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06C5C3B-B30A-96F3-66A0-DCA571F0B6D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5471342"/>
              </p:ext>
            </p:extLst>
          </p:nvPr>
        </p:nvGraphicFramePr>
        <p:xfrm>
          <a:off x="273269" y="2582335"/>
          <a:ext cx="3861292" cy="3377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1862">
                  <a:extLst>
                    <a:ext uri="{9D8B030D-6E8A-4147-A177-3AD203B41FA5}">
                      <a16:colId xmlns:a16="http://schemas.microsoft.com/office/drawing/2014/main" val="484321038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1342222998"/>
                    </a:ext>
                  </a:extLst>
                </a:gridCol>
                <a:gridCol w="485577">
                  <a:extLst>
                    <a:ext uri="{9D8B030D-6E8A-4147-A177-3AD203B41FA5}">
                      <a16:colId xmlns:a16="http://schemas.microsoft.com/office/drawing/2014/main" val="2292715755"/>
                    </a:ext>
                  </a:extLst>
                </a:gridCol>
                <a:gridCol w="293189">
                  <a:extLst>
                    <a:ext uri="{9D8B030D-6E8A-4147-A177-3AD203B41FA5}">
                      <a16:colId xmlns:a16="http://schemas.microsoft.com/office/drawing/2014/main" val="1379569988"/>
                    </a:ext>
                  </a:extLst>
                </a:gridCol>
                <a:gridCol w="433919">
                  <a:extLst>
                    <a:ext uri="{9D8B030D-6E8A-4147-A177-3AD203B41FA5}">
                      <a16:colId xmlns:a16="http://schemas.microsoft.com/office/drawing/2014/main" val="2078028733"/>
                    </a:ext>
                  </a:extLst>
                </a:gridCol>
              </a:tblGrid>
              <a:tr h="2251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Antibiotic name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%I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194325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Cefepime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90,1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80042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Ceftazidime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88,1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11,9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230734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Ciprofloxacin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90,1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232783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Colistin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03446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Gentamicin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85,1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859655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Imipenem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88,1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880642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Levofloxacin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86,5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4,5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9,0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311250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Meropenem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90,1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858118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Piperacillin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89,9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052633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Piperacillin/Tazobactam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89,1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</a:t>
                      </a:r>
                      <a:endParaRPr lang="en-VN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481663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Ticarcillin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92,1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394393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Ticarcillin/Clavulanic acid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89,9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072143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Tobramycin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  <a:endParaRPr lang="en-VN" sz="11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84,3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13,5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9390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Trimethoprim/Sulfamethoxazole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78,2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1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21,8</a:t>
                      </a:r>
                      <a:endParaRPr lang="en-VN" sz="11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443" marR="8443" marT="844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034082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94259D-FF5A-4B9F-37B5-E0245815F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V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 KÊ MX 8 THÁNG 2023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3C8D948-364E-94A2-DB1F-FB064C82AB7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92673662"/>
              </p:ext>
            </p:extLst>
          </p:nvPr>
        </p:nvGraphicFramePr>
        <p:xfrm>
          <a:off x="4663440" y="2691025"/>
          <a:ext cx="4049638" cy="3377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9044">
                  <a:extLst>
                    <a:ext uri="{9D8B030D-6E8A-4147-A177-3AD203B41FA5}">
                      <a16:colId xmlns:a16="http://schemas.microsoft.com/office/drawing/2014/main" val="3772593786"/>
                    </a:ext>
                  </a:extLst>
                </a:gridCol>
                <a:gridCol w="744104">
                  <a:extLst>
                    <a:ext uri="{9D8B030D-6E8A-4147-A177-3AD203B41FA5}">
                      <a16:colId xmlns:a16="http://schemas.microsoft.com/office/drawing/2014/main" val="1418208841"/>
                    </a:ext>
                  </a:extLst>
                </a:gridCol>
                <a:gridCol w="529458">
                  <a:extLst>
                    <a:ext uri="{9D8B030D-6E8A-4147-A177-3AD203B41FA5}">
                      <a16:colId xmlns:a16="http://schemas.microsoft.com/office/drawing/2014/main" val="219556736"/>
                    </a:ext>
                  </a:extLst>
                </a:gridCol>
                <a:gridCol w="357742">
                  <a:extLst>
                    <a:ext uri="{9D8B030D-6E8A-4147-A177-3AD203B41FA5}">
                      <a16:colId xmlns:a16="http://schemas.microsoft.com/office/drawing/2014/main" val="1320341915"/>
                    </a:ext>
                  </a:extLst>
                </a:gridCol>
                <a:gridCol w="429290">
                  <a:extLst>
                    <a:ext uri="{9D8B030D-6E8A-4147-A177-3AD203B41FA5}">
                      <a16:colId xmlns:a16="http://schemas.microsoft.com/office/drawing/2014/main" val="1981803681"/>
                    </a:ext>
                  </a:extLst>
                </a:gridCol>
              </a:tblGrid>
              <a:tr h="2251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Antibiotic name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%I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703421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Amikacin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50,9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48,2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027936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Cefepime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44,0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53,2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120709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Ceftazidime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40,9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6,4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52,7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239979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Ciprofloxacin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55,0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42,2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017138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Colistin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96,3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424008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Gentamicin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53,6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3,6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42,7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736052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Imipenem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56,9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43,1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33523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Levofloxacin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56,5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40,7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055551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Meropenem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7,4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42,6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717127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Piperacillin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47,7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7,5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44,9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025999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Piperacillin/Tazobactam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47,2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52,8</a:t>
                      </a:r>
                      <a:endParaRPr lang="en-V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066994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Ticarcillin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54,7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45,3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461492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Ticarcillin/Clavulanic acid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46,7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705648"/>
                  </a:ext>
                </a:extLst>
              </a:tr>
              <a:tr h="2251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Tobramycin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50,9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en-VN" sz="12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V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48,1</a:t>
                      </a:r>
                      <a:endParaRPr lang="en-VN" sz="12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59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11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9699-D195-79D1-2DEF-8627167EF1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848" y="80918"/>
            <a:ext cx="8944303" cy="889821"/>
          </a:xfrm>
        </p:spPr>
        <p:txBody>
          <a:bodyPr>
            <a:normAutofit/>
          </a:bodyPr>
          <a:lstStyle/>
          <a:p>
            <a:pPr algn="ctr"/>
            <a:r>
              <a:rPr lang="vi-V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 kê tình hình sử dụng thẻ</a:t>
            </a:r>
            <a:br>
              <a:rPr lang="vi-V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240 trên vi khuẩn </a:t>
            </a:r>
            <a:r>
              <a:rPr lang="vi-VN" sz="28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Acinetobacter baumannii</a:t>
            </a:r>
            <a:endParaRPr lang="en-VN" sz="2800" b="1" i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9C298F4-B204-B31F-ACD7-FB09DE1E8AE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331" y="1119466"/>
            <a:ext cx="6455335" cy="5139557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CF55B91-C29A-DE65-8643-000E7EFFD32A}"/>
              </a:ext>
            </a:extLst>
          </p:cNvPr>
          <p:cNvSpPr txBox="1"/>
          <p:nvPr/>
        </p:nvSpPr>
        <p:spPr>
          <a:xfrm>
            <a:off x="1806787" y="6407750"/>
            <a:ext cx="5530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Kháng sinh bôi đỏ là KS không có trong thẻ AST-GN 493</a:t>
            </a:r>
          </a:p>
        </p:txBody>
      </p:sp>
    </p:spTree>
    <p:extLst>
      <p:ext uri="{BB962C8B-B14F-4D97-AF65-F5344CB8AC3E}">
        <p14:creationId xmlns:p14="http://schemas.microsoft.com/office/powerpoint/2010/main" val="305392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3E2CB345-B6E5-7171-E09C-18BDD8297B82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66" y="970740"/>
            <a:ext cx="5791200" cy="527240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CF55B91-C29A-DE65-8643-000E7EFFD32A}"/>
              </a:ext>
            </a:extLst>
          </p:cNvPr>
          <p:cNvSpPr txBox="1"/>
          <p:nvPr/>
        </p:nvSpPr>
        <p:spPr>
          <a:xfrm>
            <a:off x="1806787" y="6407750"/>
            <a:ext cx="5530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Kháng sinh bôi đỏ là KS không có trong thẻ AST-GN 493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804CEB-5917-8371-85E0-7747E1700B14}"/>
              </a:ext>
            </a:extLst>
          </p:cNvPr>
          <p:cNvSpPr txBox="1">
            <a:spLocks/>
          </p:cNvSpPr>
          <p:nvPr/>
        </p:nvSpPr>
        <p:spPr>
          <a:xfrm>
            <a:off x="99848" y="80918"/>
            <a:ext cx="8944303" cy="8898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 kê tình hình sử dụng thẻ</a:t>
            </a:r>
            <a:br>
              <a:rPr lang="vi-V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AST-GN 240 trên vi khuẩn </a:t>
            </a:r>
            <a:r>
              <a:rPr lang="vi-VN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Pseudomonas aeruginosa </a:t>
            </a:r>
            <a:endParaRPr lang="en-VN" sz="2800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01094-FB0D-C7BA-25BC-39DA4C949D09}"/>
              </a:ext>
            </a:extLst>
          </p:cNvPr>
          <p:cNvSpPr txBox="1"/>
          <p:nvPr/>
        </p:nvSpPr>
        <p:spPr>
          <a:xfrm>
            <a:off x="99848" y="2575034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i="1" dirty="0">
                <a:solidFill>
                  <a:srgbClr val="FF0000"/>
                </a:solidFill>
                <a:latin typeface="Cambria" panose="02040503050406030204" pitchFamily="18" charset="0"/>
              </a:rPr>
              <a:t>14 Kháng sinh</a:t>
            </a:r>
          </a:p>
        </p:txBody>
      </p:sp>
    </p:spTree>
    <p:extLst>
      <p:ext uri="{BB962C8B-B14F-4D97-AF65-F5344CB8AC3E}">
        <p14:creationId xmlns:p14="http://schemas.microsoft.com/office/powerpoint/2010/main" val="306559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2C08BF-8860-4DB2-AA9D-F396BB70916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8827"/>
            <a:ext cx="9145007" cy="5295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7D6B24-4EEB-AA61-A717-30BB3A489DF1}"/>
              </a:ext>
            </a:extLst>
          </p:cNvPr>
          <p:cNvSpPr txBox="1"/>
          <p:nvPr/>
        </p:nvSpPr>
        <p:spPr>
          <a:xfrm>
            <a:off x="1775637" y="250989"/>
            <a:ext cx="5901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THÀNH PHẦN CỦA THẺ  AST – GN 439</a:t>
            </a:r>
          </a:p>
        </p:txBody>
      </p:sp>
    </p:spTree>
    <p:extLst>
      <p:ext uri="{BB962C8B-B14F-4D97-AF65-F5344CB8AC3E}">
        <p14:creationId xmlns:p14="http://schemas.microsoft.com/office/powerpoint/2010/main" val="1874848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44E9-9E14-C34B-C072-9C36D72B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9276"/>
            <a:ext cx="7543800" cy="1450757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vi-V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KHÁC NHAU CỦA </a:t>
            </a:r>
            <a:r>
              <a:rPr lang="en-V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 </a:t>
            </a:r>
            <a:br>
              <a:rPr lang="en-V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3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240 VÀ AST-GN 439</a:t>
            </a:r>
            <a:endParaRPr lang="en-VN" sz="36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78A94F-7DCE-2EF3-BCD4-03BA450406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30" y="1846263"/>
            <a:ext cx="3726901" cy="4375864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7B5E78-FB5C-B97E-E18C-2D6274304B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08331" y="1763993"/>
            <a:ext cx="3639416" cy="45404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DA4B61-A8F9-F1E8-94C0-DC56857CBCF8}"/>
              </a:ext>
            </a:extLst>
          </p:cNvPr>
          <p:cNvSpPr txBox="1"/>
          <p:nvPr/>
        </p:nvSpPr>
        <p:spPr>
          <a:xfrm>
            <a:off x="4235670" y="3811130"/>
            <a:ext cx="649537" cy="30777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VN" sz="1400" b="1" dirty="0">
                <a:latin typeface="Cambria" panose="02040503050406030204" pitchFamily="18" charset="0"/>
              </a:rPr>
              <a:t>17 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0658F-08FD-090A-E144-5489130E6392}"/>
              </a:ext>
            </a:extLst>
          </p:cNvPr>
          <p:cNvSpPr txBox="1"/>
          <p:nvPr/>
        </p:nvSpPr>
        <p:spPr>
          <a:xfrm>
            <a:off x="8547747" y="3764964"/>
            <a:ext cx="583814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VN" sz="1200" b="1" dirty="0">
                <a:latin typeface="Cambria" panose="02040503050406030204" pitchFamily="18" charset="0"/>
              </a:rPr>
              <a:t>15 KS</a:t>
            </a:r>
          </a:p>
        </p:txBody>
      </p:sp>
    </p:spTree>
    <p:extLst>
      <p:ext uri="{BB962C8B-B14F-4D97-AF65-F5344CB8AC3E}">
        <p14:creationId xmlns:p14="http://schemas.microsoft.com/office/powerpoint/2010/main" val="1197351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355655-6602-1382-D1A8-87FA581F6BB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59" y="1817"/>
            <a:ext cx="7789762" cy="6318584"/>
          </a:xfrm>
        </p:spPr>
      </p:pic>
    </p:spTree>
    <p:extLst>
      <p:ext uri="{BB962C8B-B14F-4D97-AF65-F5344CB8AC3E}">
        <p14:creationId xmlns:p14="http://schemas.microsoft.com/office/powerpoint/2010/main" val="63578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B26CCAFA-1FE3-8E3C-ED37-7C4C083F4F1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3" y="262649"/>
            <a:ext cx="8086590" cy="3878263"/>
          </a:xfrm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0F47C924-AA22-8EB2-CFDD-FBEAE088C801}"/>
              </a:ext>
            </a:extLst>
          </p:cNvPr>
          <p:cNvSpPr/>
          <p:nvPr/>
        </p:nvSpPr>
        <p:spPr>
          <a:xfrm>
            <a:off x="317864" y="4951263"/>
            <a:ext cx="978408" cy="7978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DC724F-99BD-E024-1864-39B3D185EC2F}"/>
              </a:ext>
            </a:extLst>
          </p:cNvPr>
          <p:cNvSpPr txBox="1"/>
          <p:nvPr/>
        </p:nvSpPr>
        <p:spPr>
          <a:xfrm>
            <a:off x="1524946" y="4702276"/>
            <a:ext cx="6736186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04813">
              <a:lnSpc>
                <a:spcPct val="150000"/>
              </a:lnSpc>
            </a:pPr>
            <a:r>
              <a:rPr lang="en-V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 biệt với kháng sinh </a:t>
            </a:r>
            <a:r>
              <a:rPr lang="en-VN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Colistin</a:t>
            </a:r>
            <a:r>
              <a:rPr lang="en-V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trên thẻ AST-GN 493 khi có kết quả thử nghiệm có thể sử dụng cho lâm sàng mà không cần thử nghiệm lại bằng phương pháp khác như trên thẻ AST-GN 240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0E0357-3CB0-7A62-6241-8BB7C13A6A94}"/>
              </a:ext>
            </a:extLst>
          </p:cNvPr>
          <p:cNvSpPr txBox="1"/>
          <p:nvPr/>
        </p:nvSpPr>
        <p:spPr>
          <a:xfrm>
            <a:off x="2852928" y="3346704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>
                <a:latin typeface="Cambria" panose="02040503050406030204" pitchFamily="18" charset="0"/>
              </a:rPr>
              <a:t>Aztreonam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B6210-C839-24D9-E70D-C7D28AF784B9}"/>
              </a:ext>
            </a:extLst>
          </p:cNvPr>
          <p:cNvSpPr txBox="1"/>
          <p:nvPr/>
        </p:nvSpPr>
        <p:spPr>
          <a:xfrm>
            <a:off x="2892170" y="3751879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Trimethoprim-Sulfa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24CEF-AABA-63C4-AEE8-2B268B034F14}"/>
              </a:ext>
            </a:extLst>
          </p:cNvPr>
          <p:cNvSpPr txBox="1"/>
          <p:nvPr/>
        </p:nvSpPr>
        <p:spPr>
          <a:xfrm>
            <a:off x="2927629" y="4149323"/>
            <a:ext cx="2714219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VN" dirty="0">
                <a:latin typeface="Cambria" panose="02040503050406030204" pitchFamily="18" charset="0"/>
              </a:rPr>
              <a:t>Rifamycin</a:t>
            </a:r>
          </a:p>
        </p:txBody>
      </p:sp>
    </p:spTree>
    <p:extLst>
      <p:ext uri="{BB962C8B-B14F-4D97-AF65-F5344CB8AC3E}">
        <p14:creationId xmlns:p14="http://schemas.microsoft.com/office/powerpoint/2010/main" val="360502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E74C-1AB3-5BB9-95A5-5AD97A91FC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89580" y="0"/>
            <a:ext cx="7831137" cy="668844"/>
          </a:xfrm>
        </p:spPr>
        <p:txBody>
          <a:bodyPr>
            <a:normAutofit/>
          </a:bodyPr>
          <a:lstStyle/>
          <a:p>
            <a:r>
              <a:rPr lang="vi-V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 khi sử dụng thẻ </a:t>
            </a:r>
            <a:r>
              <a:rPr lang="vi-VN" sz="3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AST-GN 439</a:t>
            </a:r>
            <a:endParaRPr lang="en-VN" sz="36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6C1D87-2E56-3A12-87B4-3B8654B29B5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92406939"/>
              </p:ext>
            </p:extLst>
          </p:nvPr>
        </p:nvGraphicFramePr>
        <p:xfrm>
          <a:off x="250844" y="1162756"/>
          <a:ext cx="8385265" cy="2572438"/>
        </p:xfrm>
        <a:graphic>
          <a:graphicData uri="http://schemas.openxmlformats.org/drawingml/2006/table">
            <a:tbl>
              <a:tblPr/>
              <a:tblGrid>
                <a:gridCol w="1197895">
                  <a:extLst>
                    <a:ext uri="{9D8B030D-6E8A-4147-A177-3AD203B41FA5}">
                      <a16:colId xmlns:a16="http://schemas.microsoft.com/office/drawing/2014/main" val="2339351274"/>
                    </a:ext>
                  </a:extLst>
                </a:gridCol>
                <a:gridCol w="1197895">
                  <a:extLst>
                    <a:ext uri="{9D8B030D-6E8A-4147-A177-3AD203B41FA5}">
                      <a16:colId xmlns:a16="http://schemas.microsoft.com/office/drawing/2014/main" val="155647733"/>
                    </a:ext>
                  </a:extLst>
                </a:gridCol>
                <a:gridCol w="1197895">
                  <a:extLst>
                    <a:ext uri="{9D8B030D-6E8A-4147-A177-3AD203B41FA5}">
                      <a16:colId xmlns:a16="http://schemas.microsoft.com/office/drawing/2014/main" val="467506338"/>
                    </a:ext>
                  </a:extLst>
                </a:gridCol>
                <a:gridCol w="1197895">
                  <a:extLst>
                    <a:ext uri="{9D8B030D-6E8A-4147-A177-3AD203B41FA5}">
                      <a16:colId xmlns:a16="http://schemas.microsoft.com/office/drawing/2014/main" val="2359190234"/>
                    </a:ext>
                  </a:extLst>
                </a:gridCol>
                <a:gridCol w="1197895">
                  <a:extLst>
                    <a:ext uri="{9D8B030D-6E8A-4147-A177-3AD203B41FA5}">
                      <a16:colId xmlns:a16="http://schemas.microsoft.com/office/drawing/2014/main" val="4022267491"/>
                    </a:ext>
                  </a:extLst>
                </a:gridCol>
                <a:gridCol w="1197895">
                  <a:extLst>
                    <a:ext uri="{9D8B030D-6E8A-4147-A177-3AD203B41FA5}">
                      <a16:colId xmlns:a16="http://schemas.microsoft.com/office/drawing/2014/main" val="2833785026"/>
                    </a:ext>
                  </a:extLst>
                </a:gridCol>
                <a:gridCol w="1197895">
                  <a:extLst>
                    <a:ext uri="{9D8B030D-6E8A-4147-A177-3AD203B41FA5}">
                      <a16:colId xmlns:a16="http://schemas.microsoft.com/office/drawing/2014/main" val="298508701"/>
                    </a:ext>
                  </a:extLst>
                </a:gridCol>
              </a:tblGrid>
              <a:tr h="868188">
                <a:tc>
                  <a:txBody>
                    <a:bodyPr/>
                    <a:lstStyle/>
                    <a:p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Thẻ VITEK® 2 </a:t>
                      </a:r>
                    </a:p>
                  </a:txBody>
                  <a:tcPr anchor="ctr">
                    <a:lnL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Môi trường </a:t>
                      </a:r>
                    </a:p>
                  </a:txBody>
                  <a:tcPr anchor="ctr">
                    <a:lnL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Thời gian nuôi cấy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Điều kiện ủ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Tiêu chuẩn McFarland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loãng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AST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Tuổi của huyền phù trước khi nạp vào thiết bị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099329"/>
                  </a:ext>
                </a:extLst>
              </a:tr>
              <a:tr h="922450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 Gram- âm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TSAB, CBA MAC,  CPS ID </a:t>
                      </a:r>
                    </a:p>
                  </a:txBody>
                  <a:tcPr anchor="ctr">
                    <a:lnL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đến 24 giờ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35°C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đến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37°C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hiếu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́,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không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có CO2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 đến 0.63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 μ</a:t>
                      </a:r>
                      <a:r>
                        <a:rPr lang="vi-V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trong 3.0 mL nước muối 0.45%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VITEK® 2 Compact: ≤ 30 phút </a:t>
                      </a:r>
                    </a:p>
                    <a:p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VITEK® 2: ≤ 1 Giờ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953796"/>
                  </a:ext>
                </a:extLst>
              </a:tr>
              <a:tr h="69841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Cặp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GN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̀ AST GN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CBA,  MAC,  TSAB,  CPS ID </a:t>
                      </a:r>
                    </a:p>
                  </a:txBody>
                  <a:tcPr anchor="ctr">
                    <a:lnL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đến 24 giờ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35°C đến 37°C hiếu khí, không có CO2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 đến 0.63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 μ</a:t>
                      </a:r>
                      <a:r>
                        <a:rPr lang="vi-V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trong 3.0 mL nước muối 0.45%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30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phút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1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6035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F07E5DC-74A3-DE98-495B-BB930C2D8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6523"/>
            <a:ext cx="78307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Bảng các yêu cầu về nuôi cấy </a:t>
            </a:r>
            <a:r>
              <a:rPr kumimoji="0" lang="en-VN" altLang="en-V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                                                           </a:t>
            </a:r>
          </a:p>
        </p:txBody>
      </p:sp>
      <p:pic>
        <p:nvPicPr>
          <p:cNvPr id="5122" name="Picture 2" descr="page6image3305635968">
            <a:extLst>
              <a:ext uri="{FF2B5EF4-FFF2-40B4-BE49-F238E27FC236}">
                <a16:creationId xmlns:a16="http://schemas.microsoft.com/office/drawing/2014/main" id="{92ECECE8-9812-E914-2BD3-935A2DE96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91" y="2436047"/>
            <a:ext cx="5438008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0F03D0-5CFA-3259-4B76-7A5EAA7A8D9D}"/>
              </a:ext>
            </a:extLst>
          </p:cNvPr>
          <p:cNvSpPr txBox="1"/>
          <p:nvPr/>
        </p:nvSpPr>
        <p:spPr>
          <a:xfrm>
            <a:off x="165784" y="4008986"/>
            <a:ext cx="875493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6525" indent="28575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vi-V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Những môi trường này đã được sử dụng trong quá trình phát triển cơ sở dữ liệu sản phẩm nhận dạng và sẽ mang lại hiệu suất tối ưu. 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14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Bảng yêu cầu về nuôi cấy — Viết tắt môi trường </a:t>
            </a:r>
            <a:endParaRPr lang="vi-VN" sz="1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6888" indent="306388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ü"/>
            </a:pPr>
            <a:r>
              <a:rPr lang="vi-V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CBA = Thạch máu cừu Columbia 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6888" indent="306388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ü"/>
            </a:pPr>
            <a:r>
              <a:rPr lang="vi-V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 = Thạch MacConkey</a:t>
            </a:r>
          </a:p>
          <a:p>
            <a:pPr marL="496888" indent="306388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ü"/>
            </a:pPr>
            <a:r>
              <a:rPr lang="vi-V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CPS ID = chromIDTM CPS (Thạch CPS ID)</a:t>
            </a:r>
          </a:p>
          <a:p>
            <a:pPr marL="496888" indent="306388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ü"/>
            </a:pPr>
            <a:r>
              <a:rPr lang="vi-V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TSAB = Thạch đậu nành trypticase với 5% máu cừu 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26102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7497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14560</TotalTime>
  <Words>775</Words>
  <Application>Microsoft Macintosh PowerPoint</Application>
  <PresentationFormat>On-screen Show (4:3)</PresentationFormat>
  <Paragraphs>217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Wingdings</vt:lpstr>
      <vt:lpstr>Retrospect</vt:lpstr>
      <vt:lpstr>PowerPoint Presentation</vt:lpstr>
      <vt:lpstr>PowerPoint Presentation</vt:lpstr>
      <vt:lpstr>MỤC ĐÍCH</vt:lpstr>
      <vt:lpstr>MỤC TIÊU</vt:lpstr>
      <vt:lpstr>NỘI DUNG</vt:lpstr>
      <vt:lpstr>Thống kê tình hình sử dụng thẻ AST-GN 240</vt:lpstr>
      <vt:lpstr>Thống kê tình hình sử dụng thẻ AST-GN 240 trên vi khuẩn Acinetobacter baumannii</vt:lpstr>
      <vt:lpstr>PowerPoint Presentation</vt:lpstr>
      <vt:lpstr>PowerPoint Presentation</vt:lpstr>
      <vt:lpstr>SỰ KHÁC NHAU CỦA THẺ  AST-GN 240 VÀ AST-GN 439</vt:lpstr>
      <vt:lpstr>PowerPoint Presentation</vt:lpstr>
      <vt:lpstr>PowerPoint Presentation</vt:lpstr>
      <vt:lpstr>Lưu ý khi sử dụng thẻ AST-GN 439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kết quả điều trị phẫu thuật mổ mở sỏi thận tại bệnh viện Đức Giang giai đoạn 2015-2017</dc:title>
  <dc:creator>Minh Hoan LAI</dc:creator>
  <cp:lastModifiedBy>Microsoft Office User</cp:lastModifiedBy>
  <cp:revision>598</cp:revision>
  <dcterms:created xsi:type="dcterms:W3CDTF">2017-04-07T15:22:11Z</dcterms:created>
  <dcterms:modified xsi:type="dcterms:W3CDTF">2024-05-17T08:08:22Z</dcterms:modified>
</cp:coreProperties>
</file>